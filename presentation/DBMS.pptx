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6"/>
    </p:embeddedFont>
    <p:embeddedFont>
      <p:font typeface="Arimo Bold" charset="1" panose="020B0704020202020204"/>
      <p:regular r:id="rId17"/>
    </p:embeddedFont>
    <p:embeddedFont>
      <p:font typeface="Arimo Italics" charset="1" panose="020B060402020209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5.jpeg" Type="http://schemas.openxmlformats.org/officeDocument/2006/relationships/image"/><Relationship Id="rId6" Target="../media/image9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5.jpe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19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0655" y="623129"/>
            <a:ext cx="16726689" cy="9139977"/>
            <a:chOff x="0" y="0"/>
            <a:chExt cx="7012685" cy="38319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12698" cy="3831960"/>
            </a:xfrm>
            <a:custGeom>
              <a:avLst/>
              <a:gdLst/>
              <a:ahLst/>
              <a:cxnLst/>
              <a:rect r="r" b="b" t="t" l="l"/>
              <a:pathLst>
                <a:path h="3831960" w="7012698">
                  <a:moveTo>
                    <a:pt x="0" y="302529"/>
                  </a:moveTo>
                  <a:cubicBezTo>
                    <a:pt x="0" y="135587"/>
                    <a:pt x="19922" y="0"/>
                    <a:pt x="44450" y="0"/>
                  </a:cubicBezTo>
                  <a:lnTo>
                    <a:pt x="6968248" y="0"/>
                  </a:lnTo>
                  <a:cubicBezTo>
                    <a:pt x="6992776" y="0"/>
                    <a:pt x="7012698" y="135587"/>
                    <a:pt x="7012698" y="302529"/>
                  </a:cubicBezTo>
                  <a:lnTo>
                    <a:pt x="7012698" y="3529503"/>
                  </a:lnTo>
                  <a:cubicBezTo>
                    <a:pt x="7012698" y="3696445"/>
                    <a:pt x="6992776" y="3831960"/>
                    <a:pt x="6968248" y="3831960"/>
                  </a:cubicBezTo>
                  <a:lnTo>
                    <a:pt x="44450" y="3831960"/>
                  </a:lnTo>
                  <a:cubicBezTo>
                    <a:pt x="19922" y="3831960"/>
                    <a:pt x="0" y="3696444"/>
                    <a:pt x="0" y="3529503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935200" y="9677381"/>
            <a:ext cx="3352800" cy="609600"/>
            <a:chOff x="0" y="0"/>
            <a:chExt cx="44704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7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4470400">
                  <a:moveTo>
                    <a:pt x="0" y="0"/>
                  </a:moveTo>
                  <a:lnTo>
                    <a:pt x="4470400" y="0"/>
                  </a:lnTo>
                  <a:lnTo>
                    <a:pt x="44704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523784" y="623129"/>
            <a:ext cx="5240432" cy="1965162"/>
          </a:xfrm>
          <a:custGeom>
            <a:avLst/>
            <a:gdLst/>
            <a:ahLst/>
            <a:cxnLst/>
            <a:rect r="r" b="b" t="t" l="l"/>
            <a:pathLst>
              <a:path h="1965162" w="5240432">
                <a:moveTo>
                  <a:pt x="0" y="0"/>
                </a:moveTo>
                <a:lnTo>
                  <a:pt x="5240432" y="0"/>
                </a:lnTo>
                <a:lnTo>
                  <a:pt x="5240432" y="1965162"/>
                </a:lnTo>
                <a:lnTo>
                  <a:pt x="0" y="1965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3087767" y="4580144"/>
            <a:ext cx="6056233" cy="89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Charity Donation &amp;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07538" y="4643361"/>
            <a:ext cx="16303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Beneficiary Portal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09538" y="6235995"/>
            <a:ext cx="8396000" cy="273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234" indent="-237117" lvl="1">
              <a:lnSpc>
                <a:spcPts val="3136"/>
              </a:lnSpc>
              <a:buFont typeface="Arial"/>
              <a:buChar char="•"/>
            </a:pPr>
            <a:r>
              <a:rPr lang="en-US" b="true" sz="1965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DEPARTMENT   - </a:t>
            </a:r>
            <a:r>
              <a:rPr lang="en-US" sz="196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School of Engineering and Technology ( SOET ).</a:t>
            </a:r>
          </a:p>
          <a:p>
            <a:pPr algn="l" marL="474234" indent="-237117" lvl="1">
              <a:lnSpc>
                <a:spcPts val="3136"/>
              </a:lnSpc>
              <a:buFont typeface="Arial"/>
              <a:buChar char="•"/>
            </a:pPr>
            <a:r>
              <a:rPr lang="en-US" b="true" sz="1965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COURSE             -  </a:t>
            </a:r>
            <a:r>
              <a:rPr lang="en-US" sz="196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B.Tech</a:t>
            </a:r>
          </a:p>
          <a:p>
            <a:pPr algn="l" marL="474234" indent="-237117" lvl="1">
              <a:lnSpc>
                <a:spcPts val="3136"/>
              </a:lnSpc>
              <a:buFont typeface="Arial"/>
              <a:buChar char="•"/>
            </a:pPr>
            <a:r>
              <a:rPr lang="en-US" b="true" sz="1965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BRANCH             - </a:t>
            </a:r>
            <a:r>
              <a:rPr lang="en-US" sz="196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CSE  </a:t>
            </a:r>
          </a:p>
          <a:p>
            <a:pPr algn="l" marL="474234" indent="-237117" lvl="1">
              <a:lnSpc>
                <a:spcPts val="3136"/>
              </a:lnSpc>
              <a:buFont typeface="Arial"/>
              <a:buChar char="•"/>
            </a:pPr>
            <a:r>
              <a:rPr lang="en-US" b="true" sz="1965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SEMESTER         -  </a:t>
            </a:r>
            <a:r>
              <a:rPr lang="en-US" sz="196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  <a:p>
            <a:pPr algn="l" marL="474234" indent="-237117" lvl="1">
              <a:lnSpc>
                <a:spcPts val="3136"/>
              </a:lnSpc>
              <a:buFont typeface="Arial"/>
              <a:buChar char="•"/>
            </a:pPr>
            <a:r>
              <a:rPr lang="en-US" b="true" sz="1965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SUBJECT            - </a:t>
            </a:r>
            <a:r>
              <a:rPr lang="en-US" sz="196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Database Management System.</a:t>
            </a:r>
          </a:p>
          <a:p>
            <a:pPr algn="l" marL="474234" indent="-237117" lvl="1">
              <a:lnSpc>
                <a:spcPts val="3136"/>
              </a:lnSpc>
              <a:buFont typeface="Arial"/>
              <a:buChar char="•"/>
            </a:pPr>
            <a:r>
              <a:rPr lang="en-US" b="true" sz="1965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SUBJECT CODE - </a:t>
            </a:r>
            <a:r>
              <a:rPr lang="en-US" sz="196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CSL0311</a:t>
            </a:r>
          </a:p>
          <a:p>
            <a:pPr algn="l" marL="474234" indent="-237117" lvl="1">
              <a:lnSpc>
                <a:spcPts val="3136"/>
              </a:lnSpc>
              <a:buFont typeface="Arial"/>
              <a:buChar char="•"/>
            </a:pPr>
            <a:r>
              <a:rPr lang="en-US" b="true" sz="1965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TITLE                   -   </a:t>
            </a:r>
            <a:r>
              <a:rPr lang="en-US" sz="196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PBL ‘  ER Diagram  ‘  .pptx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98287" y="3531038"/>
            <a:ext cx="1691426" cy="66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 u="sng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TOPIC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63500" y="-1714500"/>
            <a:ext cx="6858000" cy="6858000"/>
            <a:chOff x="0" y="0"/>
            <a:chExt cx="914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ECE6DF">
                <a:alpha val="15686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323975"/>
            <a:ext cx="1630680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b="true" sz="1706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DATABASE COURSE PROJECT</a:t>
            </a:r>
          </a:p>
          <a:p>
            <a:pPr algn="l">
              <a:lnSpc>
                <a:spcPts val="7067"/>
              </a:lnSpc>
            </a:pPr>
            <a:r>
              <a:rPr lang="en-US" sz="5889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Charity Donation &amp;</a:t>
            </a:r>
          </a:p>
          <a:p>
            <a:pPr algn="l">
              <a:lnSpc>
                <a:spcPts val="7067"/>
              </a:lnSpc>
            </a:pPr>
            <a:r>
              <a:rPr lang="en-US" sz="5889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Beneficiary Portal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71550" y="5124450"/>
            <a:ext cx="7848600" cy="3467395"/>
            <a:chOff x="0" y="0"/>
            <a:chExt cx="10464800" cy="46231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64800" cy="4623181"/>
            </a:xfrm>
            <a:custGeom>
              <a:avLst/>
              <a:gdLst/>
              <a:ahLst/>
              <a:cxnLst/>
              <a:rect r="r" b="b" t="t" l="l"/>
              <a:pathLst>
                <a:path h="4623181" w="10464800">
                  <a:moveTo>
                    <a:pt x="0" y="0"/>
                  </a:moveTo>
                  <a:lnTo>
                    <a:pt x="10464800" y="0"/>
                  </a:lnTo>
                  <a:lnTo>
                    <a:pt x="10464800" y="4623181"/>
                  </a:lnTo>
                  <a:lnTo>
                    <a:pt x="0" y="4623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31190" y="5505598"/>
            <a:ext cx="712932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484237"/>
                </a:solidFill>
                <a:latin typeface="Arimo Bold"/>
                <a:ea typeface="Arimo Bold"/>
                <a:cs typeface="Arimo Bold"/>
                <a:sym typeface="Arimo Bold"/>
              </a:rPr>
              <a:t>SUBMITTED BY: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407"/>
              </a:lnSpc>
            </a:pPr>
            <a:r>
              <a:rPr lang="en-US" b="true" sz="2005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Team Name: </a:t>
            </a:r>
            <a:r>
              <a:rPr lang="en-US" sz="200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[ TECH TOLI ]</a:t>
            </a:r>
          </a:p>
          <a:p>
            <a:pPr algn="l" marL="849755" indent="-424878" lvl="1">
              <a:lnSpc>
                <a:spcPts val="2287"/>
              </a:lnSpc>
              <a:buFont typeface="Arial"/>
              <a:buChar char="•"/>
            </a:pPr>
            <a:r>
              <a:rPr lang="en-US" b="true" sz="1905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Member 1 (Lead):</a:t>
            </a:r>
            <a:r>
              <a:rPr lang="en-US" sz="190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[  Ayanshu Saxena / BETN3CS26D01 ]</a:t>
            </a:r>
          </a:p>
          <a:p>
            <a:pPr algn="l" marL="849755" indent="-424878" lvl="1">
              <a:lnSpc>
                <a:spcPts val="2287"/>
              </a:lnSpc>
              <a:buFont typeface="Arial"/>
              <a:buChar char="•"/>
            </a:pPr>
            <a:r>
              <a:rPr lang="en-US" b="true" sz="1905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Member 2:</a:t>
            </a:r>
            <a:r>
              <a:rPr lang="en-US" sz="190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[  Abhas Saxena / BETN1CS25099 ]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67850" y="5124450"/>
            <a:ext cx="7848600" cy="3467395"/>
            <a:chOff x="0" y="0"/>
            <a:chExt cx="10464800" cy="46231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64800" cy="4623181"/>
            </a:xfrm>
            <a:custGeom>
              <a:avLst/>
              <a:gdLst/>
              <a:ahLst/>
              <a:cxnLst/>
              <a:rect r="r" b="b" t="t" l="l"/>
              <a:pathLst>
                <a:path h="4623181" w="10464800">
                  <a:moveTo>
                    <a:pt x="0" y="0"/>
                  </a:moveTo>
                  <a:lnTo>
                    <a:pt x="10464800" y="0"/>
                  </a:lnTo>
                  <a:lnTo>
                    <a:pt x="10464800" y="4623181"/>
                  </a:lnTo>
                  <a:lnTo>
                    <a:pt x="0" y="4623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058350" y="9688982"/>
            <a:ext cx="2143801" cy="511797"/>
            <a:chOff x="0" y="0"/>
            <a:chExt cx="2858402" cy="6823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58389" cy="682371"/>
            </a:xfrm>
            <a:custGeom>
              <a:avLst/>
              <a:gdLst/>
              <a:ahLst/>
              <a:cxnLst/>
              <a:rect r="r" b="b" t="t" l="l"/>
              <a:pathLst>
                <a:path h="682371" w="2858389">
                  <a:moveTo>
                    <a:pt x="0" y="0"/>
                  </a:moveTo>
                  <a:lnTo>
                    <a:pt x="2858389" y="0"/>
                  </a:lnTo>
                  <a:lnTo>
                    <a:pt x="2858389" y="682371"/>
                  </a:lnTo>
                  <a:lnTo>
                    <a:pt x="0" y="682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935200" y="9677381"/>
            <a:ext cx="3352800" cy="609600"/>
            <a:chOff x="0" y="0"/>
            <a:chExt cx="44704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7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4470400">
                  <a:moveTo>
                    <a:pt x="0" y="0"/>
                  </a:moveTo>
                  <a:lnTo>
                    <a:pt x="4470400" y="0"/>
                  </a:lnTo>
                  <a:lnTo>
                    <a:pt x="44704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67752" y="5505598"/>
            <a:ext cx="7048795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b="true" sz="2699">
                <a:solidFill>
                  <a:srgbClr val="484237"/>
                </a:solidFill>
                <a:latin typeface="Arimo Bold"/>
                <a:ea typeface="Arimo Bold"/>
                <a:cs typeface="Arimo Bold"/>
                <a:sym typeface="Arimo Bold"/>
              </a:rPr>
              <a:t>SUBMITTED TO :</a:t>
            </a:r>
          </a:p>
          <a:p>
            <a:pPr algn="l">
              <a:lnSpc>
                <a:spcPts val="2407"/>
              </a:lnSpc>
            </a:pPr>
          </a:p>
          <a:p>
            <a:pPr algn="l">
              <a:lnSpc>
                <a:spcPts val="3847"/>
              </a:lnSpc>
            </a:pPr>
            <a:r>
              <a:rPr lang="en-US" sz="320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           </a:t>
            </a:r>
            <a:r>
              <a:rPr lang="en-US" b="true" sz="3205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Dr. Geetanjali Surange</a:t>
            </a:r>
          </a:p>
          <a:p>
            <a:pPr algn="l">
              <a:lnSpc>
                <a:spcPts val="2287"/>
              </a:lnSpc>
            </a:pPr>
          </a:p>
          <a:p>
            <a:pPr algn="l">
              <a:lnSpc>
                <a:spcPts val="228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55777" y="588540"/>
            <a:ext cx="16303523" cy="83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899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Project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800072"/>
            <a:ext cx="5420542" cy="41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585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Charity Donation &amp; Beneficiary Portal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870302"/>
            <a:ext cx="16303523" cy="82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 database-driven system managing the full lifecycle of charitable giving — donor registration, campaign creation, fund collection, and verified disbursements.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009434"/>
            <a:ext cx="16303523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6 Features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4754613"/>
            <a:ext cx="8040443" cy="1407023"/>
            <a:chOff x="0" y="0"/>
            <a:chExt cx="10720591" cy="18760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20578" cy="1876044"/>
            </a:xfrm>
            <a:custGeom>
              <a:avLst/>
              <a:gdLst/>
              <a:ahLst/>
              <a:cxnLst/>
              <a:rect r="r" b="b" t="t" l="l"/>
              <a:pathLst>
                <a:path h="1876044" w="10720578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10670286" y="0"/>
                  </a:lnTo>
                  <a:cubicBezTo>
                    <a:pt x="10697972" y="0"/>
                    <a:pt x="10720578" y="22479"/>
                    <a:pt x="10720578" y="50292"/>
                  </a:cubicBezTo>
                  <a:lnTo>
                    <a:pt x="10720578" y="1825752"/>
                  </a:lnTo>
                  <a:cubicBezTo>
                    <a:pt x="10720578" y="1853438"/>
                    <a:pt x="10698099" y="1876044"/>
                    <a:pt x="10670286" y="1876044"/>
                  </a:cubicBezTo>
                  <a:lnTo>
                    <a:pt x="50292" y="1876044"/>
                  </a:lnTo>
                  <a:cubicBezTo>
                    <a:pt x="22606" y="1876044"/>
                    <a:pt x="0" y="1853565"/>
                    <a:pt x="0" y="1825752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43308" y="4986633"/>
            <a:ext cx="7538295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Donor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3308" y="5464969"/>
            <a:ext cx="7538295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Register and track donors with consent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5176" y="4754613"/>
            <a:ext cx="8040586" cy="1407023"/>
            <a:chOff x="0" y="0"/>
            <a:chExt cx="10720781" cy="18760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0832" cy="1876044"/>
            </a:xfrm>
            <a:custGeom>
              <a:avLst/>
              <a:gdLst/>
              <a:ahLst/>
              <a:cxnLst/>
              <a:rect r="r" b="b" t="t" l="l"/>
              <a:pathLst>
                <a:path h="1876044" w="10720832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10670540" y="0"/>
                  </a:lnTo>
                  <a:cubicBezTo>
                    <a:pt x="10698226" y="0"/>
                    <a:pt x="10720832" y="22479"/>
                    <a:pt x="10720832" y="50292"/>
                  </a:cubicBezTo>
                  <a:lnTo>
                    <a:pt x="10720832" y="1825752"/>
                  </a:lnTo>
                  <a:cubicBezTo>
                    <a:pt x="10720832" y="1853438"/>
                    <a:pt x="10698353" y="1876044"/>
                    <a:pt x="10670540" y="1876044"/>
                  </a:cubicBezTo>
                  <a:lnTo>
                    <a:pt x="50292" y="1876044"/>
                  </a:lnTo>
                  <a:cubicBezTo>
                    <a:pt x="22606" y="1876044"/>
                    <a:pt x="0" y="1853565"/>
                    <a:pt x="0" y="1825752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506245" y="4986633"/>
            <a:ext cx="7538437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Campaign Control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06245" y="5464969"/>
            <a:ext cx="7538437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Create and approve fundraising campaigns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238" y="6384131"/>
            <a:ext cx="8040443" cy="1407023"/>
            <a:chOff x="0" y="0"/>
            <a:chExt cx="10720591" cy="18760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20578" cy="1876044"/>
            </a:xfrm>
            <a:custGeom>
              <a:avLst/>
              <a:gdLst/>
              <a:ahLst/>
              <a:cxnLst/>
              <a:rect r="r" b="b" t="t" l="l"/>
              <a:pathLst>
                <a:path h="1876044" w="10720578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10670286" y="0"/>
                  </a:lnTo>
                  <a:cubicBezTo>
                    <a:pt x="10697972" y="0"/>
                    <a:pt x="10720578" y="22479"/>
                    <a:pt x="10720578" y="50292"/>
                  </a:cubicBezTo>
                  <a:lnTo>
                    <a:pt x="10720578" y="1825752"/>
                  </a:lnTo>
                  <a:cubicBezTo>
                    <a:pt x="10720578" y="1853438"/>
                    <a:pt x="10698099" y="1876044"/>
                    <a:pt x="10670286" y="1876044"/>
                  </a:cubicBezTo>
                  <a:lnTo>
                    <a:pt x="50292" y="1876044"/>
                  </a:lnTo>
                  <a:cubicBezTo>
                    <a:pt x="22606" y="1876044"/>
                    <a:pt x="0" y="1853565"/>
                    <a:pt x="0" y="1825752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43308" y="6616151"/>
            <a:ext cx="7538295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Pledge &amp; Donations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3308" y="7094487"/>
            <a:ext cx="7538295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Track promises and actual payments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55176" y="6384131"/>
            <a:ext cx="8040586" cy="1407023"/>
            <a:chOff x="0" y="0"/>
            <a:chExt cx="10720781" cy="18760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20832" cy="1876044"/>
            </a:xfrm>
            <a:custGeom>
              <a:avLst/>
              <a:gdLst/>
              <a:ahLst/>
              <a:cxnLst/>
              <a:rect r="r" b="b" t="t" l="l"/>
              <a:pathLst>
                <a:path h="1876044" w="10720832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10670540" y="0"/>
                  </a:lnTo>
                  <a:cubicBezTo>
                    <a:pt x="10698226" y="0"/>
                    <a:pt x="10720832" y="22479"/>
                    <a:pt x="10720832" y="50292"/>
                  </a:cubicBezTo>
                  <a:lnTo>
                    <a:pt x="10720832" y="1825752"/>
                  </a:lnTo>
                  <a:cubicBezTo>
                    <a:pt x="10720832" y="1853438"/>
                    <a:pt x="10698353" y="1876044"/>
                    <a:pt x="10670540" y="1876044"/>
                  </a:cubicBezTo>
                  <a:lnTo>
                    <a:pt x="50292" y="1876044"/>
                  </a:lnTo>
                  <a:cubicBezTo>
                    <a:pt x="22606" y="1876044"/>
                    <a:pt x="0" y="1853565"/>
                    <a:pt x="0" y="1825752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506245" y="6616151"/>
            <a:ext cx="7538437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Fund Transparency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06245" y="7094487"/>
            <a:ext cx="7538437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Cleared vs disbursed funds tracked separately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92238" y="8013649"/>
            <a:ext cx="8040443" cy="1407023"/>
            <a:chOff x="0" y="0"/>
            <a:chExt cx="10720591" cy="18760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20578" cy="1876044"/>
            </a:xfrm>
            <a:custGeom>
              <a:avLst/>
              <a:gdLst/>
              <a:ahLst/>
              <a:cxnLst/>
              <a:rect r="r" b="b" t="t" l="l"/>
              <a:pathLst>
                <a:path h="1876044" w="10720578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10670286" y="0"/>
                  </a:lnTo>
                  <a:cubicBezTo>
                    <a:pt x="10697972" y="0"/>
                    <a:pt x="10720578" y="22479"/>
                    <a:pt x="10720578" y="50292"/>
                  </a:cubicBezTo>
                  <a:lnTo>
                    <a:pt x="10720578" y="1825752"/>
                  </a:lnTo>
                  <a:cubicBezTo>
                    <a:pt x="10720578" y="1853438"/>
                    <a:pt x="10698099" y="1876044"/>
                    <a:pt x="10670286" y="1876044"/>
                  </a:cubicBezTo>
                  <a:lnTo>
                    <a:pt x="50292" y="1876044"/>
                  </a:lnTo>
                  <a:cubicBezTo>
                    <a:pt x="22606" y="1876044"/>
                    <a:pt x="0" y="1853565"/>
                    <a:pt x="0" y="1825752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43308" y="8245678"/>
            <a:ext cx="7538295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Beneficiary Payouts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3308" y="8724005"/>
            <a:ext cx="7538295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Only verified beneficiaries receive money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55176" y="8013649"/>
            <a:ext cx="8040586" cy="1407023"/>
            <a:chOff x="0" y="0"/>
            <a:chExt cx="10720781" cy="18760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20832" cy="1876044"/>
            </a:xfrm>
            <a:custGeom>
              <a:avLst/>
              <a:gdLst/>
              <a:ahLst/>
              <a:cxnLst/>
              <a:rect r="r" b="b" t="t" l="l"/>
              <a:pathLst>
                <a:path h="1876044" w="10720832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10670540" y="0"/>
                  </a:lnTo>
                  <a:cubicBezTo>
                    <a:pt x="10698226" y="0"/>
                    <a:pt x="10720832" y="22479"/>
                    <a:pt x="10720832" y="50292"/>
                  </a:cubicBezTo>
                  <a:lnTo>
                    <a:pt x="10720832" y="1825752"/>
                  </a:lnTo>
                  <a:cubicBezTo>
                    <a:pt x="10720832" y="1853438"/>
                    <a:pt x="10698353" y="1876044"/>
                    <a:pt x="10670540" y="1876044"/>
                  </a:cubicBezTo>
                  <a:lnTo>
                    <a:pt x="50292" y="1876044"/>
                  </a:lnTo>
                  <a:cubicBezTo>
                    <a:pt x="22606" y="1876044"/>
                    <a:pt x="0" y="1853565"/>
                    <a:pt x="0" y="1825752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506245" y="8245678"/>
            <a:ext cx="7538437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Full Audit Trail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06245" y="8724005"/>
            <a:ext cx="7538437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Every action logged permanently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935210" y="9643148"/>
            <a:ext cx="3352800" cy="609600"/>
            <a:chOff x="0" y="0"/>
            <a:chExt cx="44704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7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4470400">
                  <a:moveTo>
                    <a:pt x="0" y="0"/>
                  </a:moveTo>
                  <a:lnTo>
                    <a:pt x="4470400" y="0"/>
                  </a:lnTo>
                  <a:lnTo>
                    <a:pt x="44704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277597"/>
            <a:ext cx="16303523" cy="80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Database Requirements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2713" y="2496741"/>
            <a:ext cx="16322573" cy="5705180"/>
            <a:chOff x="0" y="0"/>
            <a:chExt cx="21763431" cy="76069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63482" cy="7606919"/>
            </a:xfrm>
            <a:custGeom>
              <a:avLst/>
              <a:gdLst/>
              <a:ahLst/>
              <a:cxnLst/>
              <a:rect r="r" b="b" t="t" l="l"/>
              <a:pathLst>
                <a:path h="7606919" w="21763482">
                  <a:moveTo>
                    <a:pt x="0" y="48387"/>
                  </a:moveTo>
                  <a:cubicBezTo>
                    <a:pt x="0" y="21717"/>
                    <a:pt x="21717" y="0"/>
                    <a:pt x="48387" y="0"/>
                  </a:cubicBezTo>
                  <a:lnTo>
                    <a:pt x="21715095" y="0"/>
                  </a:lnTo>
                  <a:cubicBezTo>
                    <a:pt x="21741764" y="0"/>
                    <a:pt x="21763482" y="21717"/>
                    <a:pt x="21763482" y="48387"/>
                  </a:cubicBezTo>
                  <a:lnTo>
                    <a:pt x="21763482" y="7558532"/>
                  </a:lnTo>
                  <a:cubicBezTo>
                    <a:pt x="21763482" y="7585201"/>
                    <a:pt x="21741764" y="7606919"/>
                    <a:pt x="21715095" y="7606919"/>
                  </a:cubicBezTo>
                  <a:lnTo>
                    <a:pt x="48387" y="7606919"/>
                  </a:lnTo>
                  <a:cubicBezTo>
                    <a:pt x="21717" y="7606919"/>
                    <a:pt x="0" y="7585201"/>
                    <a:pt x="0" y="7558532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" r="0" b="-574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92238" y="3141764"/>
            <a:ext cx="16303523" cy="15059"/>
            <a:chOff x="0" y="0"/>
            <a:chExt cx="21738031" cy="200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92238" y="3772500"/>
            <a:ext cx="16303523" cy="15059"/>
            <a:chOff x="0" y="0"/>
            <a:chExt cx="21738031" cy="200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92238" y="4403227"/>
            <a:ext cx="16303523" cy="15059"/>
            <a:chOff x="0" y="0"/>
            <a:chExt cx="21738031" cy="200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92238" y="5033962"/>
            <a:ext cx="16303523" cy="15059"/>
            <a:chOff x="0" y="0"/>
            <a:chExt cx="21738031" cy="200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92238" y="5664698"/>
            <a:ext cx="16303523" cy="15059"/>
            <a:chOff x="0" y="0"/>
            <a:chExt cx="21738031" cy="200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2238" y="6295434"/>
            <a:ext cx="16303523" cy="15059"/>
            <a:chOff x="0" y="0"/>
            <a:chExt cx="21738031" cy="200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92238" y="6926161"/>
            <a:ext cx="16303523" cy="15059"/>
            <a:chOff x="0" y="0"/>
            <a:chExt cx="21738031" cy="200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2238" y="7556897"/>
            <a:ext cx="16303523" cy="15059"/>
            <a:chOff x="0" y="0"/>
            <a:chExt cx="21738031" cy="200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072958" y="2506266"/>
            <a:ext cx="15059" cy="5686130"/>
            <a:chOff x="0" y="0"/>
            <a:chExt cx="20079" cy="75815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066" cy="7581519"/>
            </a:xfrm>
            <a:custGeom>
              <a:avLst/>
              <a:gdLst/>
              <a:ahLst/>
              <a:cxnLst/>
              <a:rect r="r" b="b" t="t" l="l"/>
              <a:pathLst>
                <a:path h="7581519" w="20066">
                  <a:moveTo>
                    <a:pt x="0" y="0"/>
                  </a:moveTo>
                  <a:lnTo>
                    <a:pt x="20066" y="0"/>
                  </a:lnTo>
                  <a:lnTo>
                    <a:pt x="20066" y="7581519"/>
                  </a:lnTo>
                  <a:lnTo>
                    <a:pt x="0" y="75815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42860" y="2581427"/>
            <a:ext cx="4498772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Entity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18674" y="2581427"/>
            <a:ext cx="12641018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Data Stored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2860" y="3212154"/>
            <a:ext cx="4498772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Donor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18674" y="3212154"/>
            <a:ext cx="12641018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donor_id, full_name, email, phone, is_anonymous, consent_status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2860" y="3842890"/>
            <a:ext cx="4498772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Organization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318674" y="3842890"/>
            <a:ext cx="12641018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org_id, name, status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2860" y="4473626"/>
            <a:ext cx="4498772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Campaign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318674" y="4473626"/>
            <a:ext cx="12641018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campaign_id, title, target_amount, start_date, end_date, status, cleared_funds, disbursed_total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2860" y="5104362"/>
            <a:ext cx="4498772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Pledge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18674" y="5104362"/>
            <a:ext cx="12641018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pledge_id, pledged_amount, pledge_date, status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2860" y="5735088"/>
            <a:ext cx="4498772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Donation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18674" y="5735088"/>
            <a:ext cx="12641018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donation_id, amount, channel, status, txn_reference, receipt_number, refund_amount, refund_status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2860" y="6365824"/>
            <a:ext cx="4498772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Beneficiary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318674" y="6365824"/>
            <a:ext cx="12641018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beneficiary_id, full_name, id_number, verification_status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2860" y="6996560"/>
            <a:ext cx="4498772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Disbursement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318674" y="6996560"/>
            <a:ext cx="12641018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disbursement_id, amount, purpose, status, approved_by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2860" y="7627296"/>
            <a:ext cx="4498772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Audit Log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318674" y="7627296"/>
            <a:ext cx="12641018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log_id, action, entity_type, logged_at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92238" y="8422777"/>
            <a:ext cx="16303523" cy="865880"/>
            <a:chOff x="0" y="0"/>
            <a:chExt cx="21738031" cy="115450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738082" cy="1154557"/>
            </a:xfrm>
            <a:custGeom>
              <a:avLst/>
              <a:gdLst/>
              <a:ahLst/>
              <a:cxnLst/>
              <a:rect r="r" b="b" t="t" l="l"/>
              <a:pathLst>
                <a:path h="1154557" w="21738082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21689822" y="0"/>
                  </a:lnTo>
                  <a:cubicBezTo>
                    <a:pt x="21716492" y="0"/>
                    <a:pt x="21738082" y="21590"/>
                    <a:pt x="21738082" y="48260"/>
                  </a:cubicBezTo>
                  <a:lnTo>
                    <a:pt x="21738082" y="1106297"/>
                  </a:lnTo>
                  <a:cubicBezTo>
                    <a:pt x="21738082" y="1132967"/>
                    <a:pt x="21716492" y="1154557"/>
                    <a:pt x="21689822" y="1154557"/>
                  </a:cubicBezTo>
                  <a:lnTo>
                    <a:pt x="48260" y="1154557"/>
                  </a:lnTo>
                  <a:cubicBezTo>
                    <a:pt x="21590" y="1154557"/>
                    <a:pt x="0" y="1132967"/>
                    <a:pt x="0" y="1106297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33192" y="8714927"/>
            <a:ext cx="301228" cy="240954"/>
            <a:chOff x="0" y="0"/>
            <a:chExt cx="401638" cy="321272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401574" cy="321310"/>
            </a:xfrm>
            <a:custGeom>
              <a:avLst/>
              <a:gdLst/>
              <a:ahLst/>
              <a:cxnLst/>
              <a:rect r="r" b="b" t="t" l="l"/>
              <a:pathLst>
                <a:path h="321310" w="401574">
                  <a:moveTo>
                    <a:pt x="0" y="0"/>
                  </a:moveTo>
                  <a:lnTo>
                    <a:pt x="401574" y="0"/>
                  </a:lnTo>
                  <a:lnTo>
                    <a:pt x="401574" y="321310"/>
                  </a:lnTo>
                  <a:lnTo>
                    <a:pt x="0" y="321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5" b="-1561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775374" y="8621020"/>
            <a:ext cx="16193843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8 entities total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4935200" y="9660903"/>
            <a:ext cx="3352800" cy="609600"/>
            <a:chOff x="0" y="0"/>
            <a:chExt cx="44704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47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4470400">
                  <a:moveTo>
                    <a:pt x="0" y="0"/>
                  </a:moveTo>
                  <a:lnTo>
                    <a:pt x="4470400" y="0"/>
                  </a:lnTo>
                  <a:lnTo>
                    <a:pt x="44704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65742" y="1028700"/>
            <a:ext cx="14835729" cy="8442148"/>
          </a:xfrm>
          <a:custGeom>
            <a:avLst/>
            <a:gdLst/>
            <a:ahLst/>
            <a:cxnLst/>
            <a:rect r="r" b="b" t="t" l="l"/>
            <a:pathLst>
              <a:path h="8442148" w="14835729">
                <a:moveTo>
                  <a:pt x="0" y="0"/>
                </a:moveTo>
                <a:lnTo>
                  <a:pt x="14835729" y="0"/>
                </a:lnTo>
                <a:lnTo>
                  <a:pt x="14835729" y="8442148"/>
                </a:lnTo>
                <a:lnTo>
                  <a:pt x="0" y="8442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3" t="-287" r="-114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4584" y="155333"/>
            <a:ext cx="16101874" cy="69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3"/>
              </a:lnSpc>
            </a:pPr>
            <a:r>
              <a:rPr lang="en-US" sz="4345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Entity Relationship Model -  ER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676551"/>
            <a:ext cx="16303647" cy="61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599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ER Model to Relational Schema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004717"/>
            <a:ext cx="16303523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5 Conversion Rules with Examples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500913"/>
            <a:ext cx="16303523" cy="1105643"/>
            <a:chOff x="0" y="0"/>
            <a:chExt cx="21738031" cy="147419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1738082" cy="1474216"/>
            </a:xfrm>
            <a:custGeom>
              <a:avLst/>
              <a:gdLst/>
              <a:ahLst/>
              <a:cxnLst/>
              <a:rect r="r" b="b" t="t" l="l"/>
              <a:pathLst>
                <a:path h="147421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474216"/>
                  </a:lnTo>
                  <a:lnTo>
                    <a:pt x="0" y="1474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4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41669" y="2881017"/>
            <a:ext cx="276377" cy="345434"/>
            <a:chOff x="0" y="0"/>
            <a:chExt cx="368503" cy="4605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8499" cy="460573"/>
            </a:xfrm>
            <a:custGeom>
              <a:avLst/>
              <a:gdLst/>
              <a:ahLst/>
              <a:cxnLst/>
              <a:rect r="r" b="b" t="t" l="l"/>
              <a:pathLst>
                <a:path h="460573" w="368499">
                  <a:moveTo>
                    <a:pt x="0" y="0"/>
                  </a:moveTo>
                  <a:lnTo>
                    <a:pt x="368499" y="0"/>
                  </a:lnTo>
                  <a:lnTo>
                    <a:pt x="368499" y="460573"/>
                  </a:lnTo>
                  <a:lnTo>
                    <a:pt x="0" y="4605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63" t="0" r="-110364" b="-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68503" cy="470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68091" y="2675630"/>
            <a:ext cx="15224369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Rule 1 — Entity becomes a Relation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68091" y="3025826"/>
            <a:ext cx="15224369" cy="28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CAMPAIGN → CAMPAIGN table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238" y="3726209"/>
            <a:ext cx="16303523" cy="1105643"/>
            <a:chOff x="0" y="0"/>
            <a:chExt cx="21738031" cy="1474191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1738082" cy="1474216"/>
            </a:xfrm>
            <a:custGeom>
              <a:avLst/>
              <a:gdLst/>
              <a:ahLst/>
              <a:cxnLst/>
              <a:rect r="r" b="b" t="t" l="l"/>
              <a:pathLst>
                <a:path h="147421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474216"/>
                  </a:lnTo>
                  <a:lnTo>
                    <a:pt x="0" y="1474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4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41669" y="4106313"/>
            <a:ext cx="276377" cy="345434"/>
            <a:chOff x="0" y="0"/>
            <a:chExt cx="368503" cy="4605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8499" cy="460573"/>
            </a:xfrm>
            <a:custGeom>
              <a:avLst/>
              <a:gdLst/>
              <a:ahLst/>
              <a:cxnLst/>
              <a:rect r="r" b="b" t="t" l="l"/>
              <a:pathLst>
                <a:path h="460573" w="368499">
                  <a:moveTo>
                    <a:pt x="0" y="0"/>
                  </a:moveTo>
                  <a:lnTo>
                    <a:pt x="368499" y="0"/>
                  </a:lnTo>
                  <a:lnTo>
                    <a:pt x="368499" y="460573"/>
                  </a:lnTo>
                  <a:lnTo>
                    <a:pt x="0" y="4605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63" t="0" r="-110364" b="-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68503" cy="470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868091" y="3900935"/>
            <a:ext cx="15224369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Rule 2 — Attribute becomes a Column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68091" y="4251122"/>
            <a:ext cx="15224369" cy="28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title, target_amount, start_date → columns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4951514"/>
            <a:ext cx="16303523" cy="1105643"/>
            <a:chOff x="0" y="0"/>
            <a:chExt cx="21738031" cy="1474191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1738082" cy="1474216"/>
            </a:xfrm>
            <a:custGeom>
              <a:avLst/>
              <a:gdLst/>
              <a:ahLst/>
              <a:cxnLst/>
              <a:rect r="r" b="b" t="t" l="l"/>
              <a:pathLst>
                <a:path h="147421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474216"/>
                  </a:lnTo>
                  <a:lnTo>
                    <a:pt x="0" y="1474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4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1669" y="5331619"/>
            <a:ext cx="276377" cy="345434"/>
            <a:chOff x="0" y="0"/>
            <a:chExt cx="368503" cy="4605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8499" cy="460573"/>
            </a:xfrm>
            <a:custGeom>
              <a:avLst/>
              <a:gdLst/>
              <a:ahLst/>
              <a:cxnLst/>
              <a:rect r="r" b="b" t="t" l="l"/>
              <a:pathLst>
                <a:path h="460573" w="368499">
                  <a:moveTo>
                    <a:pt x="0" y="0"/>
                  </a:moveTo>
                  <a:lnTo>
                    <a:pt x="368499" y="0"/>
                  </a:lnTo>
                  <a:lnTo>
                    <a:pt x="368499" y="460573"/>
                  </a:lnTo>
                  <a:lnTo>
                    <a:pt x="0" y="4605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63" t="0" r="-110364" b="-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68503" cy="470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868091" y="5126231"/>
            <a:ext cx="15224369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Rule 3 — Key Attribute becomes Primary Key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68091" y="5476427"/>
            <a:ext cx="15224369" cy="28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campaign_id → PK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92238" y="6176810"/>
            <a:ext cx="16303523" cy="1105643"/>
            <a:chOff x="0" y="0"/>
            <a:chExt cx="21738031" cy="1474191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21738082" cy="1474216"/>
            </a:xfrm>
            <a:custGeom>
              <a:avLst/>
              <a:gdLst/>
              <a:ahLst/>
              <a:cxnLst/>
              <a:rect r="r" b="b" t="t" l="l"/>
              <a:pathLst>
                <a:path h="147421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474216"/>
                  </a:lnTo>
                  <a:lnTo>
                    <a:pt x="0" y="1474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48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41669" y="6556924"/>
            <a:ext cx="276377" cy="345434"/>
            <a:chOff x="0" y="0"/>
            <a:chExt cx="368503" cy="4605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8499" cy="460573"/>
            </a:xfrm>
            <a:custGeom>
              <a:avLst/>
              <a:gdLst/>
              <a:ahLst/>
              <a:cxnLst/>
              <a:rect r="r" b="b" t="t" l="l"/>
              <a:pathLst>
                <a:path h="460573" w="368499">
                  <a:moveTo>
                    <a:pt x="0" y="0"/>
                  </a:moveTo>
                  <a:lnTo>
                    <a:pt x="368499" y="0"/>
                  </a:lnTo>
                  <a:lnTo>
                    <a:pt x="368499" y="460573"/>
                  </a:lnTo>
                  <a:lnTo>
                    <a:pt x="0" y="4605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63" t="0" r="-110364" b="-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68503" cy="470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868091" y="6351537"/>
            <a:ext cx="15224369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Rule 4 — 1:N Relationship becomes Foreign Key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68091" y="6701733"/>
            <a:ext cx="15224369" cy="28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DISBURSEMENT contains campaign_id as FK referencing CAMPAIGN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92238" y="7402116"/>
            <a:ext cx="16303523" cy="1105643"/>
            <a:chOff x="0" y="0"/>
            <a:chExt cx="21738031" cy="1474191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21738082" cy="1474216"/>
            </a:xfrm>
            <a:custGeom>
              <a:avLst/>
              <a:gdLst/>
              <a:ahLst/>
              <a:cxnLst/>
              <a:rect r="r" b="b" t="t" l="l"/>
              <a:pathLst>
                <a:path h="147421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474216"/>
                  </a:lnTo>
                  <a:lnTo>
                    <a:pt x="0" y="1474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4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41669" y="7782220"/>
            <a:ext cx="276377" cy="345434"/>
            <a:chOff x="0" y="0"/>
            <a:chExt cx="368503" cy="4605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8499" cy="460573"/>
            </a:xfrm>
            <a:custGeom>
              <a:avLst/>
              <a:gdLst/>
              <a:ahLst/>
              <a:cxnLst/>
              <a:rect r="r" b="b" t="t" l="l"/>
              <a:pathLst>
                <a:path h="460573" w="368499">
                  <a:moveTo>
                    <a:pt x="0" y="0"/>
                  </a:moveTo>
                  <a:lnTo>
                    <a:pt x="368499" y="0"/>
                  </a:lnTo>
                  <a:lnTo>
                    <a:pt x="368499" y="460573"/>
                  </a:lnTo>
                  <a:lnTo>
                    <a:pt x="0" y="4605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63" t="0" r="-110364" b="-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68503" cy="470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868091" y="7576842"/>
            <a:ext cx="15224369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Rule 5 — M:N Relationship becomes a new Relation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68091" y="7927029"/>
            <a:ext cx="15224369" cy="28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PLEDGE bridges DONOR and CAMPAIGN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92238" y="8583959"/>
            <a:ext cx="16267062" cy="644105"/>
            <a:chOff x="0" y="0"/>
            <a:chExt cx="18943683" cy="75008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943617" cy="750062"/>
            </a:xfrm>
            <a:custGeom>
              <a:avLst/>
              <a:gdLst/>
              <a:ahLst/>
              <a:cxnLst/>
              <a:rect r="r" b="b" t="t" l="l"/>
              <a:pathLst>
                <a:path h="750062" w="18943617">
                  <a:moveTo>
                    <a:pt x="0" y="36830"/>
                  </a:moveTo>
                  <a:cubicBezTo>
                    <a:pt x="0" y="16510"/>
                    <a:pt x="14388" y="0"/>
                    <a:pt x="32096" y="0"/>
                  </a:cubicBezTo>
                  <a:lnTo>
                    <a:pt x="18911522" y="0"/>
                  </a:lnTo>
                  <a:cubicBezTo>
                    <a:pt x="18929229" y="0"/>
                    <a:pt x="18943617" y="16510"/>
                    <a:pt x="18943617" y="36830"/>
                  </a:cubicBezTo>
                  <a:lnTo>
                    <a:pt x="18943617" y="713232"/>
                  </a:lnTo>
                  <a:cubicBezTo>
                    <a:pt x="18943617" y="733552"/>
                    <a:pt x="18929229" y="750062"/>
                    <a:pt x="18911522" y="750062"/>
                  </a:cubicBezTo>
                  <a:lnTo>
                    <a:pt x="32096" y="750062"/>
                  </a:lnTo>
                  <a:cubicBezTo>
                    <a:pt x="14388" y="750062"/>
                    <a:pt x="0" y="733552"/>
                    <a:pt x="0" y="713232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76490" y="8818216"/>
            <a:ext cx="230238" cy="184252"/>
            <a:chOff x="0" y="0"/>
            <a:chExt cx="306984" cy="245669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306959" cy="245618"/>
            </a:xfrm>
            <a:custGeom>
              <a:avLst/>
              <a:gdLst/>
              <a:ahLst/>
              <a:cxnLst/>
              <a:rect r="r" b="b" t="t" l="l"/>
              <a:pathLst>
                <a:path h="245618" w="306959">
                  <a:moveTo>
                    <a:pt x="0" y="0"/>
                  </a:moveTo>
                  <a:lnTo>
                    <a:pt x="306959" y="0"/>
                  </a:lnTo>
                  <a:lnTo>
                    <a:pt x="306959" y="245618"/>
                  </a:lnTo>
                  <a:lnTo>
                    <a:pt x="0" y="245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1" b="-2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590970" y="8769991"/>
            <a:ext cx="16434940" cy="28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b="true" sz="1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Special merges:</a:t>
            </a:r>
            <a:r>
              <a:rPr lang="en-US" sz="1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Online Txn and Refund merged into DONATION table; Fund Balance merged into CAMPAIGN table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4834102" y="9639148"/>
            <a:ext cx="3352800" cy="609600"/>
            <a:chOff x="0" y="0"/>
            <a:chExt cx="44704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7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4470400">
                  <a:moveTo>
                    <a:pt x="0" y="0"/>
                  </a:moveTo>
                  <a:lnTo>
                    <a:pt x="4470400" y="0"/>
                  </a:lnTo>
                  <a:lnTo>
                    <a:pt x="44704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837164" y="259283"/>
            <a:ext cx="12613673" cy="57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</a:pPr>
            <a:r>
              <a:rPr lang="en-US" sz="3604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Relational Schema — Charity Donation &amp; Beneficiary Portal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023320"/>
            <a:ext cx="16303523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481415"/>
            <a:ext cx="16303523" cy="670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935229" y="9677400"/>
            <a:ext cx="3352800" cy="609600"/>
            <a:chOff x="0" y="0"/>
            <a:chExt cx="44704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7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4470400">
                  <a:moveTo>
                    <a:pt x="0" y="0"/>
                  </a:moveTo>
                  <a:lnTo>
                    <a:pt x="4470400" y="0"/>
                  </a:lnTo>
                  <a:lnTo>
                    <a:pt x="44704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60974" y="2051828"/>
            <a:ext cx="1028700" cy="7486650"/>
            <a:chOff x="0" y="0"/>
            <a:chExt cx="1371600" cy="9982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1600" cy="9982200"/>
            </a:xfrm>
            <a:custGeom>
              <a:avLst/>
              <a:gdLst/>
              <a:ahLst/>
              <a:cxnLst/>
              <a:rect r="r" b="b" t="t" l="l"/>
              <a:pathLst>
                <a:path h="99822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9982200"/>
                  </a:lnTo>
                  <a:lnTo>
                    <a:pt x="0" y="998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50559" y="1257795"/>
            <a:ext cx="15586881" cy="8687219"/>
            <a:chOff x="0" y="0"/>
            <a:chExt cx="21639943" cy="120608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639981" cy="12060817"/>
            </a:xfrm>
            <a:custGeom>
              <a:avLst/>
              <a:gdLst/>
              <a:ahLst/>
              <a:cxnLst/>
              <a:rect r="r" b="b" t="t" l="l"/>
              <a:pathLst>
                <a:path h="12060817" w="21639981">
                  <a:moveTo>
                    <a:pt x="0" y="0"/>
                  </a:moveTo>
                  <a:lnTo>
                    <a:pt x="21639981" y="0"/>
                  </a:lnTo>
                  <a:lnTo>
                    <a:pt x="21639981" y="12060817"/>
                  </a:lnTo>
                  <a:lnTo>
                    <a:pt x="0" y="1206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967" r="0" b="-396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2713" y="868910"/>
            <a:ext cx="16303523" cy="80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Major Entities &amp; Relationships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2713" y="2288725"/>
            <a:ext cx="16322573" cy="6017202"/>
            <a:chOff x="0" y="0"/>
            <a:chExt cx="21763431" cy="80229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63482" cy="8022949"/>
            </a:xfrm>
            <a:custGeom>
              <a:avLst/>
              <a:gdLst/>
              <a:ahLst/>
              <a:cxnLst/>
              <a:rect r="r" b="b" t="t" l="l"/>
              <a:pathLst>
                <a:path h="8022949" w="21763482">
                  <a:moveTo>
                    <a:pt x="0" y="51033"/>
                  </a:moveTo>
                  <a:cubicBezTo>
                    <a:pt x="0" y="22905"/>
                    <a:pt x="21717" y="0"/>
                    <a:pt x="48387" y="0"/>
                  </a:cubicBezTo>
                  <a:lnTo>
                    <a:pt x="21715095" y="0"/>
                  </a:lnTo>
                  <a:cubicBezTo>
                    <a:pt x="21741764" y="0"/>
                    <a:pt x="21763482" y="22905"/>
                    <a:pt x="21763482" y="51033"/>
                  </a:cubicBezTo>
                  <a:lnTo>
                    <a:pt x="21763482" y="7971917"/>
                  </a:lnTo>
                  <a:cubicBezTo>
                    <a:pt x="21763482" y="8000044"/>
                    <a:pt x="21741764" y="8022949"/>
                    <a:pt x="21715095" y="8022949"/>
                  </a:cubicBezTo>
                  <a:lnTo>
                    <a:pt x="48387" y="8022949"/>
                  </a:lnTo>
                  <a:cubicBezTo>
                    <a:pt x="21717" y="8022949"/>
                    <a:pt x="0" y="8000044"/>
                    <a:pt x="0" y="7971917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48" r="0" b="-263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92238" y="3141764"/>
            <a:ext cx="16303523" cy="15059"/>
            <a:chOff x="0" y="0"/>
            <a:chExt cx="21738031" cy="200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92238" y="3772500"/>
            <a:ext cx="16303523" cy="15059"/>
            <a:chOff x="0" y="0"/>
            <a:chExt cx="21738031" cy="200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92238" y="4403227"/>
            <a:ext cx="16303523" cy="15059"/>
            <a:chOff x="0" y="0"/>
            <a:chExt cx="21738031" cy="200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92238" y="5033962"/>
            <a:ext cx="16303523" cy="15059"/>
            <a:chOff x="0" y="0"/>
            <a:chExt cx="21738031" cy="200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92238" y="5664698"/>
            <a:ext cx="16303523" cy="15059"/>
            <a:chOff x="0" y="0"/>
            <a:chExt cx="21738031" cy="200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2238" y="6295434"/>
            <a:ext cx="16303523" cy="15059"/>
            <a:chOff x="0" y="0"/>
            <a:chExt cx="21738031" cy="200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92238" y="6926161"/>
            <a:ext cx="16303523" cy="15059"/>
            <a:chOff x="0" y="0"/>
            <a:chExt cx="21738031" cy="200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2238" y="7556897"/>
            <a:ext cx="16303523" cy="15059"/>
            <a:chOff x="0" y="0"/>
            <a:chExt cx="21738031" cy="200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738082" cy="20066"/>
            </a:xfrm>
            <a:custGeom>
              <a:avLst/>
              <a:gdLst/>
              <a:ahLst/>
              <a:cxnLst/>
              <a:rect r="r" b="b" t="t" l="l"/>
              <a:pathLst>
                <a:path h="20066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0066"/>
                  </a:lnTo>
                  <a:lnTo>
                    <a:pt x="0" y="200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42860" y="2581427"/>
            <a:ext cx="5317779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Relationship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28147" y="2581427"/>
            <a:ext cx="11831536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Meaning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2860" y="3212154"/>
            <a:ext cx="5317779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manages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28147" y="3212154"/>
            <a:ext cx="11831536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Organization creates and owns a campaign (1:N)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2860" y="3842890"/>
            <a:ext cx="5317779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gives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28147" y="3842890"/>
            <a:ext cx="11831536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Donor makes actual donations (1:N)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2860" y="4473626"/>
            <a:ext cx="5317779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makes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28147" y="4473626"/>
            <a:ext cx="11831536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Donor creates pledges before paying (1:N)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2860" y="5104362"/>
            <a:ext cx="5317779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received by (Donation)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128147" y="5104362"/>
            <a:ext cx="11831536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Campaign collects many donations (1:N)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2860" y="5735088"/>
            <a:ext cx="5317779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received by (Pledge)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128147" y="5735088"/>
            <a:ext cx="11831536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Campaign receives many pledges (1:N)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2860" y="6365824"/>
            <a:ext cx="5317779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fulfilled by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128147" y="6365824"/>
            <a:ext cx="11831536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 pledge is converted into one donation (1:1)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2860" y="6996560"/>
            <a:ext cx="5317779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funds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28147" y="6996560"/>
            <a:ext cx="11831536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Campaign pays out to many disbursements (1:N)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2860" y="7627296"/>
            <a:ext cx="5317779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receives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128147" y="7627296"/>
            <a:ext cx="11831536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Beneficiary gets multiple disbursements (1:N)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92238" y="8422777"/>
            <a:ext cx="16303523" cy="865880"/>
            <a:chOff x="0" y="0"/>
            <a:chExt cx="21738031" cy="115450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738082" cy="1154557"/>
            </a:xfrm>
            <a:custGeom>
              <a:avLst/>
              <a:gdLst/>
              <a:ahLst/>
              <a:cxnLst/>
              <a:rect r="r" b="b" t="t" l="l"/>
              <a:pathLst>
                <a:path h="1154557" w="21738082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21689822" y="0"/>
                  </a:lnTo>
                  <a:cubicBezTo>
                    <a:pt x="21716492" y="0"/>
                    <a:pt x="21738082" y="21590"/>
                    <a:pt x="21738082" y="48260"/>
                  </a:cubicBezTo>
                  <a:lnTo>
                    <a:pt x="21738082" y="1106297"/>
                  </a:lnTo>
                  <a:cubicBezTo>
                    <a:pt x="21738082" y="1132967"/>
                    <a:pt x="21716492" y="1154557"/>
                    <a:pt x="21689822" y="1154557"/>
                  </a:cubicBezTo>
                  <a:lnTo>
                    <a:pt x="48260" y="1154557"/>
                  </a:lnTo>
                  <a:cubicBezTo>
                    <a:pt x="21590" y="1154557"/>
                    <a:pt x="0" y="1132967"/>
                    <a:pt x="0" y="1106297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3192" y="8714927"/>
            <a:ext cx="301228" cy="240954"/>
            <a:chOff x="0" y="0"/>
            <a:chExt cx="401638" cy="321272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401574" cy="321310"/>
            </a:xfrm>
            <a:custGeom>
              <a:avLst/>
              <a:gdLst/>
              <a:ahLst/>
              <a:cxnLst/>
              <a:rect r="r" b="b" t="t" l="l"/>
              <a:pathLst>
                <a:path h="321310" w="401574">
                  <a:moveTo>
                    <a:pt x="0" y="0"/>
                  </a:moveTo>
                  <a:lnTo>
                    <a:pt x="401574" y="0"/>
                  </a:lnTo>
                  <a:lnTo>
                    <a:pt x="401574" y="321310"/>
                  </a:lnTo>
                  <a:lnTo>
                    <a:pt x="0" y="321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5" b="-1561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775374" y="8621020"/>
            <a:ext cx="16193843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Note:</a:t>
            </a: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fulfilled by</a:t>
            </a: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is the only 1:1 relationship — all others are 1:N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4821148" y="9660903"/>
            <a:ext cx="3352800" cy="609600"/>
            <a:chOff x="0" y="0"/>
            <a:chExt cx="44704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7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4470400">
                  <a:moveTo>
                    <a:pt x="0" y="0"/>
                  </a:moveTo>
                  <a:lnTo>
                    <a:pt x="4470400" y="0"/>
                  </a:lnTo>
                  <a:lnTo>
                    <a:pt x="44704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789607"/>
            <a:ext cx="16908342" cy="683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sz="4252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2154136"/>
            <a:ext cx="478336" cy="478336"/>
            <a:chOff x="0" y="0"/>
            <a:chExt cx="637781" cy="6377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7794" cy="637794"/>
            </a:xfrm>
            <a:custGeom>
              <a:avLst/>
              <a:gdLst/>
              <a:ahLst/>
              <a:cxnLst/>
              <a:rect r="r" b="b" t="t" l="l"/>
              <a:pathLst>
                <a:path h="637794" w="637794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595249" y="0"/>
                  </a:lnTo>
                  <a:cubicBezTo>
                    <a:pt x="618744" y="0"/>
                    <a:pt x="637794" y="19050"/>
                    <a:pt x="637794" y="42545"/>
                  </a:cubicBezTo>
                  <a:lnTo>
                    <a:pt x="637794" y="595249"/>
                  </a:lnTo>
                  <a:cubicBezTo>
                    <a:pt x="637794" y="618744"/>
                    <a:pt x="618744" y="637794"/>
                    <a:pt x="595249" y="637794"/>
                  </a:cubicBezTo>
                  <a:lnTo>
                    <a:pt x="42545" y="637794"/>
                  </a:lnTo>
                  <a:cubicBezTo>
                    <a:pt x="19050" y="637794"/>
                    <a:pt x="0" y="618744"/>
                    <a:pt x="0" y="59524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29966" y="2175567"/>
            <a:ext cx="1566579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5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The ER model captures the full conceptual structure of the Charity Donation &amp; Beneficiary Portal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2951407"/>
            <a:ext cx="478336" cy="478336"/>
            <a:chOff x="0" y="0"/>
            <a:chExt cx="637781" cy="6377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7794" cy="637794"/>
            </a:xfrm>
            <a:custGeom>
              <a:avLst/>
              <a:gdLst/>
              <a:ahLst/>
              <a:cxnLst/>
              <a:rect r="r" b="b" t="t" l="l"/>
              <a:pathLst>
                <a:path h="637794" w="637794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595249" y="0"/>
                  </a:lnTo>
                  <a:cubicBezTo>
                    <a:pt x="618744" y="0"/>
                    <a:pt x="637794" y="19050"/>
                    <a:pt x="637794" y="42545"/>
                  </a:cubicBezTo>
                  <a:lnTo>
                    <a:pt x="637794" y="595249"/>
                  </a:lnTo>
                  <a:cubicBezTo>
                    <a:pt x="637794" y="618744"/>
                    <a:pt x="618744" y="637794"/>
                    <a:pt x="595249" y="637794"/>
                  </a:cubicBezTo>
                  <a:lnTo>
                    <a:pt x="42545" y="637794"/>
                  </a:lnTo>
                  <a:cubicBezTo>
                    <a:pt x="19050" y="637794"/>
                    <a:pt x="0" y="618744"/>
                    <a:pt x="0" y="59524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29966" y="2972838"/>
            <a:ext cx="1566579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5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8 entities and their attributes were converted into 8 relational tables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3748678"/>
            <a:ext cx="478336" cy="478336"/>
            <a:chOff x="0" y="0"/>
            <a:chExt cx="637781" cy="6377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7794" cy="637794"/>
            </a:xfrm>
            <a:custGeom>
              <a:avLst/>
              <a:gdLst/>
              <a:ahLst/>
              <a:cxnLst/>
              <a:rect r="r" b="b" t="t" l="l"/>
              <a:pathLst>
                <a:path h="637794" w="637794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595249" y="0"/>
                  </a:lnTo>
                  <a:cubicBezTo>
                    <a:pt x="618744" y="0"/>
                    <a:pt x="637794" y="19050"/>
                    <a:pt x="637794" y="42545"/>
                  </a:cubicBezTo>
                  <a:lnTo>
                    <a:pt x="637794" y="595249"/>
                  </a:lnTo>
                  <a:cubicBezTo>
                    <a:pt x="637794" y="618744"/>
                    <a:pt x="618744" y="637794"/>
                    <a:pt x="595249" y="637794"/>
                  </a:cubicBezTo>
                  <a:lnTo>
                    <a:pt x="42545" y="637794"/>
                  </a:lnTo>
                  <a:cubicBezTo>
                    <a:pt x="19050" y="637794"/>
                    <a:pt x="0" y="618744"/>
                    <a:pt x="0" y="59524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29966" y="3770119"/>
            <a:ext cx="1566579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5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Primary keys uniquely identify every record in every table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4545959"/>
            <a:ext cx="478336" cy="478336"/>
            <a:chOff x="0" y="0"/>
            <a:chExt cx="637781" cy="6377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7794" cy="637794"/>
            </a:xfrm>
            <a:custGeom>
              <a:avLst/>
              <a:gdLst/>
              <a:ahLst/>
              <a:cxnLst/>
              <a:rect r="r" b="b" t="t" l="l"/>
              <a:pathLst>
                <a:path h="637794" w="637794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595249" y="0"/>
                  </a:lnTo>
                  <a:cubicBezTo>
                    <a:pt x="618744" y="0"/>
                    <a:pt x="637794" y="19050"/>
                    <a:pt x="637794" y="42545"/>
                  </a:cubicBezTo>
                  <a:lnTo>
                    <a:pt x="637794" y="595249"/>
                  </a:lnTo>
                  <a:cubicBezTo>
                    <a:pt x="637794" y="618744"/>
                    <a:pt x="618744" y="637794"/>
                    <a:pt x="595249" y="637794"/>
                  </a:cubicBezTo>
                  <a:lnTo>
                    <a:pt x="42545" y="637794"/>
                  </a:lnTo>
                  <a:cubicBezTo>
                    <a:pt x="19050" y="637794"/>
                    <a:pt x="0" y="618744"/>
                    <a:pt x="0" y="59524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29966" y="4567390"/>
            <a:ext cx="1566579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5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Foreign keys establish all relationships between tables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5343230"/>
            <a:ext cx="478336" cy="478336"/>
            <a:chOff x="0" y="0"/>
            <a:chExt cx="637781" cy="6377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7794" cy="637794"/>
            </a:xfrm>
            <a:custGeom>
              <a:avLst/>
              <a:gdLst/>
              <a:ahLst/>
              <a:cxnLst/>
              <a:rect r="r" b="b" t="t" l="l"/>
              <a:pathLst>
                <a:path h="637794" w="637794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595249" y="0"/>
                  </a:lnTo>
                  <a:cubicBezTo>
                    <a:pt x="618744" y="0"/>
                    <a:pt x="637794" y="19050"/>
                    <a:pt x="637794" y="42545"/>
                  </a:cubicBezTo>
                  <a:lnTo>
                    <a:pt x="637794" y="595249"/>
                  </a:lnTo>
                  <a:cubicBezTo>
                    <a:pt x="637794" y="618744"/>
                    <a:pt x="618744" y="637794"/>
                    <a:pt x="595249" y="637794"/>
                  </a:cubicBezTo>
                  <a:lnTo>
                    <a:pt x="42545" y="637794"/>
                  </a:lnTo>
                  <a:cubicBezTo>
                    <a:pt x="19050" y="637794"/>
                    <a:pt x="0" y="618744"/>
                    <a:pt x="0" y="59524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629966" y="5364661"/>
            <a:ext cx="1566579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599" i="true">
                <a:solidFill>
                  <a:srgbClr val="746558"/>
                </a:solidFill>
                <a:latin typeface="Arimo Italics"/>
                <a:ea typeface="Arimo Italics"/>
                <a:cs typeface="Arimo Italics"/>
                <a:sym typeface="Arimo Italics"/>
              </a:rPr>
              <a:t>fulfilled by</a:t>
            </a:r>
            <a:r>
              <a:rPr lang="en-US" sz="15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(Pledge → Donation) is the only 1:1 relationship — all others are 1:N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6140501"/>
            <a:ext cx="478336" cy="478336"/>
            <a:chOff x="0" y="0"/>
            <a:chExt cx="637781" cy="6377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7794" cy="637794"/>
            </a:xfrm>
            <a:custGeom>
              <a:avLst/>
              <a:gdLst/>
              <a:ahLst/>
              <a:cxnLst/>
              <a:rect r="r" b="b" t="t" l="l"/>
              <a:pathLst>
                <a:path h="637794" w="637794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595249" y="0"/>
                  </a:lnTo>
                  <a:cubicBezTo>
                    <a:pt x="618744" y="0"/>
                    <a:pt x="637794" y="19050"/>
                    <a:pt x="637794" y="42545"/>
                  </a:cubicBezTo>
                  <a:lnTo>
                    <a:pt x="637794" y="595249"/>
                  </a:lnTo>
                  <a:cubicBezTo>
                    <a:pt x="637794" y="618744"/>
                    <a:pt x="618744" y="637794"/>
                    <a:pt x="595249" y="637794"/>
                  </a:cubicBezTo>
                  <a:lnTo>
                    <a:pt x="42545" y="637794"/>
                  </a:lnTo>
                  <a:cubicBezTo>
                    <a:pt x="19050" y="637794"/>
                    <a:pt x="0" y="618744"/>
                    <a:pt x="0" y="59524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29966" y="6161932"/>
            <a:ext cx="1566579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5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Online Txn and Refund merged into DONATION; Fund Balance merged into CAMPAIGN to reduce redundancy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92238" y="6937772"/>
            <a:ext cx="478336" cy="478336"/>
            <a:chOff x="0" y="0"/>
            <a:chExt cx="637781" cy="6377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7794" cy="637794"/>
            </a:xfrm>
            <a:custGeom>
              <a:avLst/>
              <a:gdLst/>
              <a:ahLst/>
              <a:cxnLst/>
              <a:rect r="r" b="b" t="t" l="l"/>
              <a:pathLst>
                <a:path h="637794" w="637794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595249" y="0"/>
                  </a:lnTo>
                  <a:cubicBezTo>
                    <a:pt x="618744" y="0"/>
                    <a:pt x="637794" y="19050"/>
                    <a:pt x="637794" y="42545"/>
                  </a:cubicBezTo>
                  <a:lnTo>
                    <a:pt x="637794" y="595249"/>
                  </a:lnTo>
                  <a:cubicBezTo>
                    <a:pt x="637794" y="618744"/>
                    <a:pt x="618744" y="637794"/>
                    <a:pt x="595249" y="637794"/>
                  </a:cubicBezTo>
                  <a:lnTo>
                    <a:pt x="42545" y="637794"/>
                  </a:lnTo>
                  <a:cubicBezTo>
                    <a:pt x="19050" y="637794"/>
                    <a:pt x="0" y="618744"/>
                    <a:pt x="0" y="59524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629966" y="6959203"/>
            <a:ext cx="1566579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5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The relational model gives a clean implementable database structure ready for SQL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8700" y="8892483"/>
            <a:ext cx="16303523" cy="28575"/>
            <a:chOff x="0" y="0"/>
            <a:chExt cx="21738031" cy="38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738082" cy="38100"/>
            </a:xfrm>
            <a:custGeom>
              <a:avLst/>
              <a:gdLst/>
              <a:ahLst/>
              <a:cxnLst/>
              <a:rect r="r" b="b" t="t" l="l"/>
              <a:pathLst>
                <a:path h="38100" w="2173808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19032" y="0"/>
                  </a:lnTo>
                  <a:cubicBezTo>
                    <a:pt x="21729573" y="0"/>
                    <a:pt x="21738082" y="8509"/>
                    <a:pt x="21738082" y="19050"/>
                  </a:cubicBezTo>
                  <a:cubicBezTo>
                    <a:pt x="21738082" y="29591"/>
                    <a:pt x="21729573" y="38100"/>
                    <a:pt x="217190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746558">
                <a:alpha val="2509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935200" y="9662350"/>
            <a:ext cx="3352800" cy="609600"/>
            <a:chOff x="0" y="0"/>
            <a:chExt cx="44704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7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4470400">
                  <a:moveTo>
                    <a:pt x="0" y="0"/>
                  </a:moveTo>
                  <a:lnTo>
                    <a:pt x="4470400" y="0"/>
                  </a:lnTo>
                  <a:lnTo>
                    <a:pt x="44704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343025" y="6134100"/>
            <a:ext cx="5715000" cy="5715000"/>
            <a:chOff x="0" y="0"/>
            <a:chExt cx="7620000" cy="762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3810000"/>
                  </a:moveTo>
                  <a:cubicBezTo>
                    <a:pt x="0" y="1705737"/>
                    <a:pt x="1705737" y="0"/>
                    <a:pt x="3810000" y="0"/>
                  </a:cubicBezTo>
                  <a:cubicBezTo>
                    <a:pt x="5914263" y="0"/>
                    <a:pt x="7620000" y="1705737"/>
                    <a:pt x="7620000" y="3810000"/>
                  </a:cubicBezTo>
                  <a:cubicBezTo>
                    <a:pt x="7620000" y="5914263"/>
                    <a:pt x="5914263" y="7620000"/>
                    <a:pt x="3810000" y="7620000"/>
                  </a:cubicBezTo>
                  <a:cubicBezTo>
                    <a:pt x="1705737" y="7620000"/>
                    <a:pt x="0" y="5914263"/>
                    <a:pt x="0" y="3810000"/>
                  </a:cubicBezTo>
                  <a:close/>
                </a:path>
              </a:pathLst>
            </a:custGeom>
            <a:solidFill>
              <a:srgbClr val="ECE6DF">
                <a:alpha val="862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78000" y="-762000"/>
            <a:ext cx="4572000" cy="4572000"/>
            <a:chOff x="0" y="0"/>
            <a:chExt cx="6096000" cy="609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ECE6DF">
                <a:alpha val="1568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35049" y="1714500"/>
            <a:ext cx="6858000" cy="6858000"/>
            <a:chOff x="0" y="0"/>
            <a:chExt cx="9144000" cy="914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35049" y="1531375"/>
            <a:ext cx="7224251" cy="7224251"/>
            <a:chOff x="0" y="0"/>
            <a:chExt cx="9144000" cy="9144000"/>
          </a:xfrm>
        </p:grpSpPr>
        <p:sp>
          <p:nvSpPr>
            <p:cNvPr name="Freeform 13" id="13" descr="A minimalistic, aesthetic line art illustration of a hand clicking on a stylized heart or database node, symbolizing tech-enabled charity, pastel beige background, clean vector design.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4475" y="1524000"/>
            <a:ext cx="7483401" cy="2749896"/>
            <a:chOff x="0" y="0"/>
            <a:chExt cx="8294645" cy="304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4645" cy="3048000"/>
            </a:xfrm>
            <a:custGeom>
              <a:avLst/>
              <a:gdLst/>
              <a:ahLst/>
              <a:cxnLst/>
              <a:rect r="r" b="b" t="t" l="l"/>
              <a:pathLst>
                <a:path h="3048000" w="8294645">
                  <a:moveTo>
                    <a:pt x="0" y="0"/>
                  </a:moveTo>
                  <a:lnTo>
                    <a:pt x="8294645" y="0"/>
                  </a:lnTo>
                  <a:lnTo>
                    <a:pt x="8294645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-22488" b="-149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294645" cy="307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>
                  <a:solidFill>
                    <a:srgbClr val="484237"/>
                  </a:solidFill>
                  <a:latin typeface="Arimo"/>
                  <a:ea typeface="Arimo"/>
                  <a:cs typeface="Arimo"/>
                  <a:sym typeface="Arimo"/>
                </a:rPr>
                <a:t>Thank You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Any Questions or Queries?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14475" y="5307321"/>
            <a:ext cx="7258050" cy="2772730"/>
            <a:chOff x="0" y="0"/>
            <a:chExt cx="9374870" cy="3581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74870" cy="3581400"/>
            </a:xfrm>
            <a:custGeom>
              <a:avLst/>
              <a:gdLst/>
              <a:ahLst/>
              <a:cxnLst/>
              <a:rect r="r" b="b" t="t" l="l"/>
              <a:pathLst>
                <a:path h="3581400" w="9374870">
                  <a:moveTo>
                    <a:pt x="0" y="204597"/>
                  </a:moveTo>
                  <a:cubicBezTo>
                    <a:pt x="0" y="91567"/>
                    <a:pt x="88704" y="0"/>
                    <a:pt x="198201" y="0"/>
                  </a:cubicBezTo>
                  <a:lnTo>
                    <a:pt x="9176669" y="0"/>
                  </a:lnTo>
                  <a:cubicBezTo>
                    <a:pt x="9286166" y="0"/>
                    <a:pt x="9374870" y="91567"/>
                    <a:pt x="9374870" y="204597"/>
                  </a:cubicBezTo>
                  <a:lnTo>
                    <a:pt x="9374870" y="3376803"/>
                  </a:lnTo>
                  <a:cubicBezTo>
                    <a:pt x="9374870" y="3489833"/>
                    <a:pt x="9286166" y="3581400"/>
                    <a:pt x="9176669" y="3581400"/>
                  </a:cubicBezTo>
                  <a:lnTo>
                    <a:pt x="198201" y="3581400"/>
                  </a:lnTo>
                  <a:cubicBezTo>
                    <a:pt x="88704" y="3581400"/>
                    <a:pt x="0" y="3489833"/>
                    <a:pt x="0" y="3376803"/>
                  </a:cubicBezTo>
                  <a:close/>
                </a:path>
              </a:pathLst>
            </a:custGeom>
            <a:solidFill>
              <a:srgbClr val="F4EFE7"/>
            </a:solidFill>
            <a:ln w="19050" cap="sq">
              <a:solidFill>
                <a:srgbClr val="ECE6D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696126" y="6035243"/>
            <a:ext cx="6894747" cy="130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4"/>
              </a:lnSpc>
            </a:pPr>
            <a:r>
              <a:rPr lang="en-US" b="true" sz="2128">
                <a:solidFill>
                  <a:srgbClr val="484237"/>
                </a:solidFill>
                <a:latin typeface="Arimo Bold"/>
                <a:ea typeface="Arimo Bold"/>
                <a:cs typeface="Arimo Bold"/>
                <a:sym typeface="Arimo Bold"/>
              </a:rPr>
              <a:t>CSL0311 — DATABASE MANAGEMENT SYSTEM</a:t>
            </a:r>
          </a:p>
          <a:p>
            <a:pPr algn="l">
              <a:lnSpc>
                <a:spcPts val="2554"/>
              </a:lnSpc>
            </a:pPr>
            <a:r>
              <a:rPr lang="en-US" sz="2128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Database Course Project Presentation</a:t>
            </a:r>
          </a:p>
          <a:p>
            <a:pPr algn="l">
              <a:lnSpc>
                <a:spcPts val="2554"/>
              </a:lnSpc>
            </a:pPr>
            <a:r>
              <a:rPr lang="en-US" sz="2128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Charity Donation &amp; Beneficiary Portal</a:t>
            </a:r>
          </a:p>
          <a:p>
            <a:pPr algn="l">
              <a:lnSpc>
                <a:spcPts val="2554"/>
              </a:lnSpc>
            </a:pPr>
            <a:r>
              <a:rPr lang="en-US" sz="2128" i="true">
                <a:solidFill>
                  <a:srgbClr val="746558"/>
                </a:solidFill>
                <a:latin typeface="Arimo Italics"/>
                <a:ea typeface="Arimo Italics"/>
                <a:cs typeface="Arimo Italics"/>
                <a:sym typeface="Arimo Italics"/>
              </a:rPr>
              <a:t>Designed for transparency and secure funds tracking.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58350" y="9688982"/>
            <a:ext cx="2143801" cy="511797"/>
            <a:chOff x="0" y="0"/>
            <a:chExt cx="2858402" cy="6823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58389" cy="682371"/>
            </a:xfrm>
            <a:custGeom>
              <a:avLst/>
              <a:gdLst/>
              <a:ahLst/>
              <a:cxnLst/>
              <a:rect r="r" b="b" t="t" l="l"/>
              <a:pathLst>
                <a:path h="682371" w="2858389">
                  <a:moveTo>
                    <a:pt x="0" y="0"/>
                  </a:moveTo>
                  <a:lnTo>
                    <a:pt x="2858389" y="0"/>
                  </a:lnTo>
                  <a:lnTo>
                    <a:pt x="2858389" y="682371"/>
                  </a:lnTo>
                  <a:lnTo>
                    <a:pt x="0" y="682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6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935200" y="9677381"/>
            <a:ext cx="3352800" cy="609600"/>
            <a:chOff x="0" y="0"/>
            <a:chExt cx="44704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7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4470400">
                  <a:moveTo>
                    <a:pt x="0" y="0"/>
                  </a:moveTo>
                  <a:lnTo>
                    <a:pt x="4470400" y="0"/>
                  </a:lnTo>
                  <a:lnTo>
                    <a:pt x="44704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DAHQmCZA1Tk</dc:identifier>
  <dcterms:modified xsi:type="dcterms:W3CDTF">2011-08-01T06:04:30Z</dcterms:modified>
  <cp:revision>1</cp:revision>
  <dc:title>CSL311 — DATABASE MANAGEMENT SYSTEMS Database Course Project Presentation Charity Donation &amp; Beneficiary Portal Designed for transparency and secure funds tracking.</dc:title>
</cp:coreProperties>
</file>